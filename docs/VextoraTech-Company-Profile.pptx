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20240"/>
            <a:ext cx="1097280" cy="38100"/>
          </a:xfrm>
          <a:prstGeom prst="rect">
            <a:avLst/>
          </a:prstGeom>
          <a:solidFill>
            <a:srgbClr val="5B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5B9FD4"/>
                </a:solidFill>
                <a:latin typeface="Calibri"/>
              </a:rPr>
              <a:t>VextoraTech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AED"/>
                </a:solidFill>
                <a:latin typeface="Calibri"/>
              </a:rPr>
              <a:t>We build software that thinks.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  <a:latin typeface="Calibri"/>
              </a:rPr>
              <a:t>AI · Web · Mobile · Cloud  —  engineering for ambitious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Calibri"/>
              </a:rPr>
              <a:t>Lahore, Pakistan  ·  Incorporated 2026  ·  vextoratech.com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Calibri"/>
              </a:rPr>
              <a:t>VextoraTech  ·  Lahore  ·  vextoratech.com  ·  info@vextoratech.com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Calibri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9FD4"/>
                </a:solidFill>
                <a:latin typeface="Calibri"/>
              </a:rPr>
              <a:t>COMPANY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822960" cy="38100"/>
          </a:xfrm>
          <a:prstGeom prst="rect">
            <a:avLst/>
          </a:prstGeom>
          <a:solidFill>
            <a:srgbClr val="5B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D"/>
                </a:solidFill>
                <a:latin typeface="Calibri"/>
              </a:rPr>
              <a:t>Who we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E8EAED"/>
                </a:solidFill>
                <a:latin typeface="Calibri"/>
              </a:rPr>
              <a:t>Engineering-led software studio that ships intelligent digital products — AI models and RAG systems to full-stack web, mobile, and cloud.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E8EAED"/>
                </a:solidFill>
                <a:latin typeface="Calibri"/>
              </a:rPr>
              <a:t>Incorporated in 2026 in Lahore. No legacy agency, no rebrand, no borrowed history.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E8EAED"/>
                </a:solidFill>
                <a:latin typeface="Calibri"/>
              </a:rPr>
              <a:t>Small team building in public from day one.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E8EAED"/>
                </a:solidFill>
                <a:latin typeface="Calibri"/>
              </a:rPr>
              <a:t>Clients work directly with the engineers shipping the product — not a sales layer in between.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E8EAED"/>
                </a:solidFill>
                <a:latin typeface="Calibri"/>
              </a:rPr>
              <a:t>Built by engineers, for founders.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Calibri"/>
              </a:rPr>
              <a:t>VextoraTech  ·  Lahore  ·  vextoratech.com  ·  info@vextoratech.com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Calibr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9FD4"/>
                </a:solidFill>
                <a:latin typeface="Calibri"/>
              </a:rPr>
              <a:t>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822960" cy="38100"/>
          </a:xfrm>
          <a:prstGeom prst="rect">
            <a:avLst/>
          </a:prstGeom>
          <a:solidFill>
            <a:srgbClr val="5B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D"/>
                </a:solidFill>
                <a:latin typeface="Calibri"/>
              </a:rPr>
              <a:t>Mission &amp; 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212080" cy="219456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299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475488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Close the gap between great ideas and trusted technical execution. Ship production software that is accurate, scalable, and honest about cost and risk.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828800"/>
            <a:ext cx="5212080" cy="219456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0299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95728"/>
            <a:ext cx="475488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Become the technical partner ambitious teams call when they need AI, web, and infrastructure delivered as one coherent product — not as disconnected vendors.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97680"/>
            <a:ext cx="10881360" cy="13716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5262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AED"/>
                </a:solidFill>
                <a:latin typeface="Calibri"/>
              </a:rPr>
              <a:t>"Technology should accelerate your vision, not complicate it. We build the infrastructure that makes ambitious ideas inevitable."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Calibri"/>
              </a:rPr>
              <a:t>VextoraTech  ·  Lahore  ·  vextoratech.com  ·  info@vextoratech.com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Calibr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9FD4"/>
                </a:solidFill>
                <a:latin typeface="Calibri"/>
              </a:rPr>
              <a:t>CULTURE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822960" cy="38100"/>
          </a:xfrm>
          <a:prstGeom prst="rect">
            <a:avLst/>
          </a:prstGeom>
          <a:solidFill>
            <a:srgbClr val="5B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D"/>
                </a:solidFill>
                <a:latin typeface="Calibri"/>
              </a:rPr>
              <a:t>What we stand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49240" cy="178308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2996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Radical Honesty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48920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Say what you'd tell a co-founder. Clear beats comfortable.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49240" cy="178308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2996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Ownership Mentality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95728"/>
            <a:ext cx="48920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Treat the product like it's ours — edge cases and follow-through included.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94760"/>
            <a:ext cx="5349240" cy="178308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9592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Technical Depth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61688"/>
            <a:ext cx="48920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Pattern design, performance, security — not just "it works."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94760"/>
            <a:ext cx="5349240" cy="178308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9592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Long-Term Thinking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361688"/>
            <a:ext cx="48920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Decisions today should not create debt for the next 10,000 users.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Calibri"/>
              </a:rPr>
              <a:t>VextoraTech  ·  Lahore  ·  vextoratech.com  ·  info@vextoratech.com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Calibr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9FD4"/>
                </a:solidFill>
                <a:latin typeface="Calibri"/>
              </a:rPr>
              <a:t>EXPERTISE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822960" cy="38100"/>
          </a:xfrm>
          <a:prstGeom prst="rect">
            <a:avLst/>
          </a:prstGeom>
          <a:solidFill>
            <a:srgbClr val="5B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D"/>
                </a:solidFill>
                <a:latin typeface="Calibri"/>
              </a:rPr>
              <a:t>Where we go deep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881360" cy="96012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0800" cy="960120"/>
          </a:xfrm>
          <a:prstGeom prst="rect">
            <a:avLst/>
          </a:prstGeom>
          <a:solidFill>
            <a:srgbClr val="5B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47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Computer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984248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Calibri"/>
              </a:rPr>
              <a:t>Object detection, OCR, ANPR, face recognition, multi-camera surveillance — built for real-world accuracy and latency.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34640"/>
            <a:ext cx="10881360" cy="96012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50800" cy="960120"/>
          </a:xfrm>
          <a:prstGeom prst="rect">
            <a:avLst/>
          </a:prstGeom>
          <a:solidFill>
            <a:srgbClr val="5B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992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Voice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35808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Calibri"/>
              </a:rPr>
              <a:t>Whisper transcription, speaker diarization, and call analytics that turn audio into actionable insight.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86200"/>
            <a:ext cx="10881360" cy="96012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86200"/>
            <a:ext cx="50800" cy="960120"/>
          </a:xfrm>
          <a:prstGeom prst="rect">
            <a:avLst/>
          </a:prstGeom>
          <a:solidFill>
            <a:srgbClr val="5B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50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RAG &amp; LLM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087368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Calibri"/>
              </a:rPr>
              <a:t>Grounded assistants with vector search, citations, and guardrails — factual and safe to 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37760"/>
            <a:ext cx="10881360" cy="96012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937760"/>
            <a:ext cx="50800" cy="960120"/>
          </a:xfrm>
          <a:prstGeom prst="rect">
            <a:avLst/>
          </a:prstGeom>
          <a:solidFill>
            <a:srgbClr val="5B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102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Full-Stack Products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138928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Calibri"/>
              </a:rPr>
              <a:t>React and FastAPI platforms, APIs, auth, and cloud — from prototype through launch and scale.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Calibri"/>
              </a:rPr>
              <a:t>VextoraTech  ·  Lahore  ·  vextoratech.com  ·  info@vextoratech.com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Calibr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9FD4"/>
                </a:solidFill>
                <a:latin typeface="Calibri"/>
              </a:rPr>
              <a:t>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822960" cy="38100"/>
          </a:xfrm>
          <a:prstGeom prst="rect">
            <a:avLst/>
          </a:prstGeom>
          <a:solidFill>
            <a:srgbClr val="5B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D"/>
                </a:solidFill>
                <a:latin typeface="Calibri"/>
              </a:rPr>
              <a:t>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520440" cy="18288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29968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AI &amp;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306324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Vision, voice, RAG, local inference, production model APIs.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828800"/>
            <a:ext cx="3520440" cy="18288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29968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Web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95728"/>
            <a:ext cx="306324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React, Next.js, TanStack, FastAPI, Node, Postgres, RBAC.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520440" cy="18288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029968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Mobile Apps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395728"/>
            <a:ext cx="306324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React Native / Flutter, offline-first, store deployment.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40480"/>
            <a:ext cx="3520440" cy="18288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41648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Cloud &amp; DevOps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07408"/>
            <a:ext cx="306324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AWS/GCP/Azure, Docker, K8s, CI/CD, Terraform, monitoring.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840480"/>
            <a:ext cx="3520440" cy="18288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041648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UI/UX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407408"/>
            <a:ext cx="306324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Research, Figma prototypes, design systems, WCAG 2.1 AA.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840480"/>
            <a:ext cx="3520440" cy="18288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4041648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API &amp; Integrations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407408"/>
            <a:ext cx="306324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OpenAPI REST, GraphQL, webhooks, third-party systems.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Calibri"/>
              </a:rPr>
              <a:t>VextoraTech  ·  Lahore  ·  vextoratech.com  ·  info@vextoratech.com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Calibr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9FD4"/>
                </a:solidFill>
                <a:latin typeface="Calibri"/>
              </a:rPr>
              <a:t>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822960" cy="38100"/>
          </a:xfrm>
          <a:prstGeom prst="rect">
            <a:avLst/>
          </a:prstGeom>
          <a:solidFill>
            <a:srgbClr val="5B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D"/>
                </a:solidFill>
                <a:latin typeface="Calibri"/>
              </a:rPr>
              <a:t>How we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651760" cy="310896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9FD4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EAED"/>
                </a:solidFill>
                <a:latin typeface="Calibri"/>
              </a:rPr>
              <a:t>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747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Calibri"/>
              </a:rPr>
              <a:t>Goals, constraints, scope, and success metrics.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103120"/>
            <a:ext cx="2651760" cy="310896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9FD4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EAED"/>
                </a:solidFill>
                <a:latin typeface="Calibri"/>
              </a:rPr>
              <a:t>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4747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Calibri"/>
              </a:rPr>
              <a:t>Wireframes and Figma prototypes before heavy code.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03120"/>
            <a:ext cx="2651760" cy="310896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9FD4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EAED"/>
                </a:solidFill>
                <a:latin typeface="Calibri"/>
              </a:rP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4747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Calibri"/>
              </a:rPr>
              <a:t>Agile sprints, weekly demos, real deploys early.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2103120"/>
            <a:ext cx="2651760" cy="310896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9FD4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EAED"/>
                </a:solidFill>
                <a:latin typeface="Calibri"/>
              </a:rPr>
              <a:t>Launch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4747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Calibri"/>
              </a:rPr>
              <a:t>Production rollout, monitoring, and ongoing support.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Calibri"/>
              </a:rPr>
              <a:t>VextoraTech  ·  Lahore  ·  vextoratech.com  ·  info@vextoratech.com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Calibr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9FD4"/>
                </a:solidFill>
                <a:latin typeface="Calibri"/>
              </a:rPr>
              <a:t>ENGAGEMENT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822960" cy="38100"/>
          </a:xfrm>
          <a:prstGeom prst="rect">
            <a:avLst/>
          </a:prstGeom>
          <a:solidFill>
            <a:srgbClr val="5B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D"/>
                </a:solidFill>
                <a:latin typeface="Calibri"/>
              </a:rPr>
              <a:t>How to work with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881360" cy="118872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9FD4"/>
                </a:solidFill>
                <a:latin typeface="Calibri"/>
              </a:rPr>
              <a:t>Fixed-scope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Calibri"/>
              </a:rPr>
              <a:t>Defined MVP or feature set with agreed deliverables, timeline, and acceptance criteria. Best when requirements are clear.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54680"/>
            <a:ext cx="10881360" cy="118872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9FD4"/>
                </a:solidFill>
                <a:latin typeface="Calibri"/>
              </a:rPr>
              <a:t>Ongoing partnership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Calibri"/>
              </a:rPr>
              <a:t>Retained engineering team embedded in your roadmap — sprints, demos, continuous delivery. Best for products in active growth.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480560"/>
            <a:ext cx="10881360" cy="118872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709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9FD4"/>
                </a:solidFill>
                <a:latin typeface="Calibri"/>
              </a:rPr>
              <a:t>Discovery / PoC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Calibri"/>
              </a:rPr>
              <a:t>Short spike to validate feasibility, architecture, and cost before a full build. Low-risk way to start.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Calibri"/>
              </a:rPr>
              <a:t>VextoraTech  ·  Lahore  ·  vextoratech.com  ·  info@vextoratech.com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Calibr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9FD4"/>
                </a:solidFill>
                <a:latin typeface="Calibri"/>
              </a:rPr>
              <a:t>PORTFOLIO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822960" cy="38100"/>
          </a:xfrm>
          <a:prstGeom prst="rect">
            <a:avLst/>
          </a:prstGeom>
          <a:solidFill>
            <a:srgbClr val="5B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D"/>
                </a:solidFill>
                <a:latin typeface="Calibri"/>
              </a:rPr>
              <a:t>Selected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Some of this was delivered by our people before VextoraTech was incorporated; some we are building now. Same engineers, same standards — under one name from 2026 onward.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3520440" cy="169164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3288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9FD4"/>
                </a:solidFill>
                <a:latin typeface="Calibri"/>
              </a:rPr>
              <a:t>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NexaWatch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Real-time field visibility — live GPS, geofences, route history.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331720"/>
            <a:ext cx="3520440" cy="169164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53288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9FD4"/>
                </a:solidFill>
                <a:latin typeface="Calibri"/>
              </a:rPr>
              <a:t>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8892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NexaDesk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546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Secure AI helpdesk — ticket analysis, smart replies, priority detection.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331720"/>
            <a:ext cx="3520440" cy="169164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53288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9FD4"/>
                </a:solidFill>
                <a:latin typeface="Calibri"/>
              </a:rPr>
              <a:t>PRIOR TEAM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78892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Voice Intelligence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1546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Transcribe, diarize, analyze calls — sentiment, topics, actions.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60520"/>
            <a:ext cx="3520440" cy="169164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6168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9FD4"/>
                </a:solidFill>
                <a:latin typeface="Calibri"/>
              </a:rPr>
              <a:t>PRIOR TEAM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61772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AI Surveillance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834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YOLOv8 multi-camera detection — zone breaches, loitering, alerts.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4160520"/>
            <a:ext cx="3520440" cy="169164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36168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9FD4"/>
                </a:solidFill>
                <a:latin typeface="Calibri"/>
              </a:rPr>
              <a:t>PRIOR TEAM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61772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PYLI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9834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Centralized multi-profile business platform with bespoke UI.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4160520"/>
            <a:ext cx="3520440" cy="169164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436168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9FD4"/>
                </a:solidFill>
                <a:latin typeface="Calibri"/>
              </a:rPr>
              <a:t>INTERNAL 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61772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Medical Knowledge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9834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Private RAG for clinical and document Q&amp;A.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Calibri"/>
              </a:rPr>
              <a:t>VextoraTech  ·  Lahore  ·  vextoratech.com  ·  info@vextoratech.com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Calibr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9FD4"/>
                </a:solidFill>
                <a:latin typeface="Calibri"/>
              </a:rPr>
              <a:t>FEATURED WORK ·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822960" cy="38100"/>
          </a:xfrm>
          <a:prstGeom prst="rect">
            <a:avLst/>
          </a:prstGeom>
          <a:solidFill>
            <a:srgbClr val="5B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D"/>
                </a:solidFill>
                <a:latin typeface="Calibri"/>
              </a:rPr>
              <a:t>NexaWatch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  <a:latin typeface="Calibri"/>
              </a:rPr>
              <a:t>Real-time field visibility for teams, routes, and client visits.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9FD4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487168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Calibri"/>
              </a:rPr>
              <a:t>Field teams need live location, geofence alerts, and route history in one secure admin surface — not scattered tools.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29000"/>
            <a:ext cx="10881360" cy="100584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9FD4"/>
                </a:solidFill>
                <a:latin typeface="Calibri"/>
              </a:rPr>
              <a:t>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630168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Calibri"/>
              </a:rPr>
              <a:t>Built a real-time GPS tracking dashboard with geofences, route history, and role-based admin access.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572000"/>
            <a:ext cx="10881360" cy="100584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9FD4"/>
                </a:solidFill>
                <a:latin typeface="Calibri"/>
              </a:rPr>
              <a:t>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773168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Calibri"/>
              </a:rPr>
              <a:t>React · Node.js · WebSocket · GPS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Calibri"/>
              </a:rPr>
              <a:t>VextoraTech  ·  Lahore  ·  vextoratech.com  ·  info@vextoratech.com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9FD4"/>
                </a:solidFill>
                <a:latin typeface="Calibri"/>
              </a:rPr>
              <a:t>FEATURED WORK · PRIOR TEAM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822960" cy="38100"/>
          </a:xfrm>
          <a:prstGeom prst="rect">
            <a:avLst/>
          </a:prstGeom>
          <a:solidFill>
            <a:srgbClr val="5B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D"/>
                </a:solidFill>
                <a:latin typeface="Calibri"/>
              </a:rPr>
              <a:t>Voice Intelligence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  <a:latin typeface="Calibri"/>
              </a:rPr>
              <a:t>End-to-end voice analytics for contact centers and sales teams.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9FD4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487168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Calibri"/>
              </a:rPr>
              <a:t>Raw call recordings stay unused — teams need transcription, speaker separation, and actionable insights.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29000"/>
            <a:ext cx="10881360" cy="100584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9FD4"/>
                </a:solidFill>
                <a:latin typeface="Calibri"/>
              </a:rPr>
              <a:t>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630168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Calibri"/>
              </a:rPr>
              <a:t>Whisper + NLP pipelines that diarize speakers, extract sentiment and topics, and surface action items.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572000"/>
            <a:ext cx="10881360" cy="100584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9FD4"/>
                </a:solidFill>
                <a:latin typeface="Calibri"/>
              </a:rPr>
              <a:t>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773168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Calibri"/>
              </a:rPr>
              <a:t>Whisper · Python · NLP · 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Calibri"/>
              </a:rPr>
              <a:t>VextoraTech  ·  Lahore  ·  vextoratech.com  ·  info@vextoratech.com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9FD4"/>
                </a:solidFill>
                <a:latin typeface="Calibri"/>
              </a:rPr>
              <a:t>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822960" cy="38100"/>
          </a:xfrm>
          <a:prstGeom prst="rect">
            <a:avLst/>
          </a:prstGeom>
          <a:solidFill>
            <a:srgbClr val="5B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D"/>
                </a:solidFill>
                <a:latin typeface="Calibri"/>
              </a:rPr>
              <a:t>Technology we ship with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881360" cy="6858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9FD4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01168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Calibri"/>
              </a:rPr>
              <a:t>React, Next.js, TanStack, Tailwind CSS, Figma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10881360" cy="6858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9FD4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78892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Calibri"/>
              </a:rPr>
              <a:t>FastAPI, Python, Node.js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83280"/>
            <a:ext cx="10881360" cy="6858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9FD4"/>
                </a:solidFill>
                <a:latin typeface="Calibri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56616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Calibri"/>
              </a:rPr>
              <a:t>PostgreSQL, MongoDB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60520"/>
            <a:ext cx="10881360" cy="6858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9FD4"/>
                </a:solidFill>
                <a:latin typeface="Calibri"/>
              </a:rPr>
              <a:t>AI /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34340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Calibri"/>
              </a:rPr>
              <a:t>LLMs, Whisper, YOLO, OpenCV, PyTorch, Ollama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37760"/>
            <a:ext cx="10881360" cy="6858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9FD4"/>
                </a:solidFill>
                <a:latin typeface="Calibri"/>
              </a:rPr>
              <a:t>Infra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12064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Calibri"/>
              </a:rPr>
              <a:t>Docker, AWS, CI/CD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Calibri"/>
              </a:rPr>
              <a:t>VextoraTech  ·  Lahore  ·  vextoratech.com  ·  info@vextoratech.com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9FD4"/>
                </a:solidFill>
                <a:latin typeface="Calibri"/>
              </a:rPr>
              <a:t>PEOPLE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822960" cy="38100"/>
          </a:xfrm>
          <a:prstGeom prst="rect">
            <a:avLst/>
          </a:prstGeom>
          <a:solidFill>
            <a:srgbClr val="5B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ED"/>
                </a:solidFill>
                <a:latin typeface="Calibri"/>
              </a:rPr>
              <a:t>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Lahore-based · remote-friendly across Pakistan · direct engineer–client collaboration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520440" cy="173736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9FD4"/>
                </a:solidFill>
                <a:latin typeface="Calibri"/>
              </a:rPr>
              <a:t>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Farjad Kareem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Product architecture &amp; full-stack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194560"/>
            <a:ext cx="3520440" cy="173736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39572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9FD4"/>
                </a:solidFill>
                <a:latin typeface="Calibri"/>
              </a:rPr>
              <a:t>PRODUCT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5176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Umar Azhar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17520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Discovery through launch; MVP scope &amp; alignment.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194560"/>
            <a:ext cx="3520440" cy="173736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39572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9FD4"/>
                </a:solidFill>
                <a:latin typeface="Calibri"/>
              </a:rPr>
              <a:t>SR. AI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65176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Irfan Ahmad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017520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ML / LLMs / production — owns model architecture.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069079"/>
            <a:ext cx="3520440" cy="173736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70247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9FD4"/>
                </a:solidFill>
                <a:latin typeface="Calibri"/>
              </a:rPr>
              <a:t>AI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26279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Mateen Abid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92039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RAG pipelines, local LLM inference, integrations.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4069079"/>
            <a:ext cx="3520440" cy="173736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270247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9FD4"/>
                </a:solidFill>
                <a:latin typeface="Calibri"/>
              </a:rPr>
              <a:t>AI ENGINEER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526279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Taimoor Amir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892039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Whisper, NLP pipelines, FastAPI AI services.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4069079"/>
            <a:ext cx="3520440" cy="173736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4270247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B9FD4"/>
                </a:solidFill>
                <a:latin typeface="Calibri"/>
              </a:rPr>
              <a:t>FULL STACK DEVELOPER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526279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Saad Ishaq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892039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Calibri"/>
              </a:rPr>
              <a:t>React / TanStack, APIs, database, deployment.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Calibri"/>
              </a:rPr>
              <a:t>VextoraTech  ·  Lahore  ·  vextoratech.com  ·  info@vextoratech.com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645920"/>
            <a:ext cx="1097280" cy="38100"/>
          </a:xfrm>
          <a:prstGeom prst="rect">
            <a:avLst/>
          </a:prstGeom>
          <a:solidFill>
            <a:srgbClr val="5B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EAED"/>
                </a:solidFill>
                <a:latin typeface="Calibri"/>
              </a:rPr>
              <a:t>Let's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B949E"/>
                </a:solidFill>
                <a:latin typeface="Calibri"/>
              </a:rPr>
              <a:t>No commitment, no sales pitch — just an honest conversation about what's possible.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657600"/>
            <a:ext cx="5349240" cy="9144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8221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9FD4"/>
                </a:solidFill>
                <a:latin typeface="Calibri"/>
              </a:rPr>
              <a:t>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0965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info@vextoratech.com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657600"/>
            <a:ext cx="5349240" cy="9144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38221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9FD4"/>
                </a:solidFill>
                <a:latin typeface="Calibri"/>
              </a:rPr>
              <a:t>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40965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+92 371 2331344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709160"/>
            <a:ext cx="5349240" cy="9144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8737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9FD4"/>
                </a:solidFill>
                <a:latin typeface="Calibri"/>
              </a:rPr>
              <a:t>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1480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vextoratech.com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709160"/>
            <a:ext cx="5349240" cy="91440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8737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9FD4"/>
                </a:solidFill>
                <a:latin typeface="Calibri"/>
              </a:rPr>
              <a:t>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51480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EAED"/>
                </a:solidFill>
                <a:latin typeface="Calibri"/>
              </a:rPr>
              <a:t>Lahore, Pakistan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  <a:latin typeface="Calibri"/>
              </a:rPr>
              <a:t>VextoraTech  ·  Lahore  ·  vextoratech.com  ·  info@vextoratech.com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49E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